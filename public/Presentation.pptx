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Koho Bold" charset="1" panose="00000800000000000000"/>
      <p:regular r:id="rId16"/>
    </p:embeddedFont>
    <p:embeddedFont>
      <p:font typeface="Koho" charset="1" panose="00000500000000000000"/>
      <p:regular r:id="rId17"/>
    </p:embeddedFont>
    <p:embeddedFont>
      <p:font typeface="Aileron Bold" charset="1" panose="00000800000000000000"/>
      <p:regular r:id="rId18"/>
    </p:embeddedFont>
    <p:embeddedFont>
      <p:font typeface="Open Sans Bold" charset="1" panose="020B0806030504020204"/>
      <p:regular r:id="rId19"/>
    </p:embeddedFont>
    <p:embeddedFont>
      <p:font typeface="Arimo Bold" charset="1" panose="020B0704020202020204"/>
      <p:regular r:id="rId20"/>
    </p:embeddedFont>
    <p:embeddedFont>
      <p:font typeface="Arimo Bold Italics" charset="1" panose="020B0704020202090204"/>
      <p:regular r:id="rId21"/>
    </p:embeddedFont>
    <p:embeddedFont>
      <p:font typeface="Aileron"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5.png" Type="http://schemas.openxmlformats.org/officeDocument/2006/relationships/image"/><Relationship Id="rId15" Target="../media/image16.png" Type="http://schemas.openxmlformats.org/officeDocument/2006/relationships/image"/><Relationship Id="rId16" Target="../media/image17.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4882925" y="3395641"/>
            <a:ext cx="8522150" cy="3400467"/>
          </a:xfrm>
          <a:prstGeom prst="rect">
            <a:avLst/>
          </a:prstGeom>
        </p:spPr>
        <p:txBody>
          <a:bodyPr anchor="t" rtlCol="false" tIns="0" lIns="0" bIns="0" rIns="0">
            <a:spAutoFit/>
          </a:bodyPr>
          <a:lstStyle/>
          <a:p>
            <a:pPr algn="ctr">
              <a:lnSpc>
                <a:spcPts val="6822"/>
              </a:lnSpc>
            </a:pPr>
            <a:r>
              <a:rPr lang="en-US" sz="4873" b="true">
                <a:solidFill>
                  <a:srgbClr val="000000"/>
                </a:solidFill>
                <a:latin typeface="Koho Bold"/>
                <a:ea typeface="Koho Bold"/>
                <a:cs typeface="Koho Bold"/>
                <a:sym typeface="Koho Bold"/>
              </a:rPr>
              <a:t>Judul: Pameran mobil</a:t>
            </a:r>
          </a:p>
          <a:p>
            <a:pPr algn="ctr">
              <a:lnSpc>
                <a:spcPts val="6822"/>
              </a:lnSpc>
            </a:pPr>
            <a:r>
              <a:rPr lang="en-US" sz="4873" b="true">
                <a:solidFill>
                  <a:srgbClr val="000000"/>
                </a:solidFill>
                <a:latin typeface="Koho Bold"/>
                <a:ea typeface="Koho Bold"/>
                <a:cs typeface="Koho Bold"/>
                <a:sym typeface="Koho Bold"/>
              </a:rPr>
              <a:t> Nama: M. Ryan Arisandy</a:t>
            </a:r>
          </a:p>
          <a:p>
            <a:pPr algn="ctr">
              <a:lnSpc>
                <a:spcPts val="6822"/>
              </a:lnSpc>
            </a:pPr>
            <a:r>
              <a:rPr lang="en-US" sz="4873" b="true">
                <a:solidFill>
                  <a:srgbClr val="000000"/>
                </a:solidFill>
                <a:latin typeface="Koho Bold"/>
                <a:ea typeface="Koho Bold"/>
                <a:cs typeface="Koho Bold"/>
                <a:sym typeface="Koho Bold"/>
              </a:rPr>
              <a:t> Kelas: XI-RPL</a:t>
            </a:r>
          </a:p>
          <a:p>
            <a:pPr algn="ctr">
              <a:lnSpc>
                <a:spcPts val="6822"/>
              </a:lnSpc>
            </a:pPr>
            <a:r>
              <a:rPr lang="en-US" sz="4873" b="true">
                <a:solidFill>
                  <a:srgbClr val="000000"/>
                </a:solidFill>
                <a:latin typeface="Koho Bold"/>
                <a:ea typeface="Koho Bold"/>
                <a:cs typeface="Koho Bold"/>
                <a:sym typeface="Koho Bold"/>
              </a:rPr>
              <a:t> Absen: 16</a:t>
            </a:r>
          </a:p>
        </p:txBody>
      </p:sp>
      <p:sp>
        <p:nvSpPr>
          <p:cNvPr name="Freeform 13" id="13"/>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5176572" y="7940306"/>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5188496"/>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3219109" y="-4123972"/>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2229493"/>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2885504" y="7585218"/>
            <a:ext cx="7828407" cy="8229600"/>
          </a:xfrm>
          <a:custGeom>
            <a:avLst/>
            <a:gdLst/>
            <a:ahLst/>
            <a:cxnLst/>
            <a:rect r="r" b="b" t="t" l="l"/>
            <a:pathLst>
              <a:path h="8229600" w="7828407">
                <a:moveTo>
                  <a:pt x="0" y="0"/>
                </a:moveTo>
                <a:lnTo>
                  <a:pt x="7828408" y="0"/>
                </a:lnTo>
                <a:lnTo>
                  <a:pt x="7828408"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3345096" y="-4997811"/>
            <a:ext cx="7828407" cy="8229600"/>
          </a:xfrm>
          <a:custGeom>
            <a:avLst/>
            <a:gdLst/>
            <a:ahLst/>
            <a:cxnLst/>
            <a:rect r="r" b="b" t="t" l="l"/>
            <a:pathLst>
              <a:path h="8229600" w="7828407">
                <a:moveTo>
                  <a:pt x="0" y="0"/>
                </a:moveTo>
                <a:lnTo>
                  <a:pt x="7828408" y="0"/>
                </a:lnTo>
                <a:lnTo>
                  <a:pt x="7828408"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1685956" y="952500"/>
            <a:ext cx="14916088" cy="8207417"/>
          </a:xfrm>
          <a:prstGeom prst="rect">
            <a:avLst/>
          </a:prstGeom>
        </p:spPr>
        <p:txBody>
          <a:bodyPr anchor="t" rtlCol="false" tIns="0" lIns="0" bIns="0" rIns="0">
            <a:spAutoFit/>
          </a:bodyPr>
          <a:lstStyle/>
          <a:p>
            <a:pPr algn="l">
              <a:lnSpc>
                <a:spcPts val="5422"/>
              </a:lnSpc>
            </a:pPr>
            <a:r>
              <a:rPr lang="en-US" sz="3873" b="true">
                <a:solidFill>
                  <a:srgbClr val="000000"/>
                </a:solidFill>
                <a:latin typeface="Koho Bold"/>
                <a:ea typeface="Koho Bold"/>
                <a:cs typeface="Koho Bold"/>
                <a:sym typeface="Koho Bold"/>
              </a:rPr>
              <a:t>Nama Aplikasi</a:t>
            </a:r>
            <a:r>
              <a:rPr lang="en-US" sz="3873">
                <a:solidFill>
                  <a:srgbClr val="000000"/>
                </a:solidFill>
                <a:latin typeface="Koho"/>
                <a:ea typeface="Koho"/>
                <a:cs typeface="Koho"/>
                <a:sym typeface="Koho"/>
              </a:rPr>
              <a:t>: AutoVerse PAMERAN</a:t>
            </a:r>
          </a:p>
          <a:p>
            <a:pPr algn="l">
              <a:lnSpc>
                <a:spcPts val="5422"/>
              </a:lnSpc>
            </a:pPr>
            <a:r>
              <a:rPr lang="en-US" sz="3873" b="true">
                <a:solidFill>
                  <a:srgbClr val="000000"/>
                </a:solidFill>
                <a:latin typeface="Koho Bold"/>
                <a:ea typeface="Koho Bold"/>
                <a:cs typeface="Koho Bold"/>
                <a:sym typeface="Koho Bold"/>
              </a:rPr>
              <a:t>Fungsi Aplikasi</a:t>
            </a:r>
            <a:r>
              <a:rPr lang="en-US" sz="3873">
                <a:solidFill>
                  <a:srgbClr val="000000"/>
                </a:solidFill>
                <a:latin typeface="Koho"/>
                <a:ea typeface="Koho"/>
                <a:cs typeface="Koho"/>
                <a:sym typeface="Koho"/>
              </a:rPr>
              <a:t>: AutoVerse Pameran berfungsi sebagai platform digital terintegrasi yang menjembatani pengelola pameran otomotif dengan para pencinta mobil mewah. Secara menyeluruh, aplikasi ini bertindak sebagai pusat kendali untuk mengelola seluruh ekosistem pameran, mulai dari pendataan unit kendaraan hingga pengaturan jadwal acara di berbagai lokasi.</a:t>
            </a:r>
          </a:p>
          <a:p>
            <a:pPr algn="l">
              <a:lnSpc>
                <a:spcPts val="5422"/>
              </a:lnSpc>
            </a:pPr>
            <a:r>
              <a:rPr lang="en-US" sz="3873" b="true">
                <a:solidFill>
                  <a:srgbClr val="000000"/>
                </a:solidFill>
                <a:latin typeface="Koho Bold"/>
                <a:ea typeface="Koho Bold"/>
                <a:cs typeface="Koho Bold"/>
                <a:sym typeface="Koho Bold"/>
              </a:rPr>
              <a:t>Target Pengguna</a:t>
            </a:r>
            <a:r>
              <a:rPr lang="en-US" sz="3873">
                <a:solidFill>
                  <a:srgbClr val="000000"/>
                </a:solidFill>
                <a:latin typeface="Koho"/>
                <a:ea typeface="Koho"/>
                <a:cs typeface="Koho"/>
                <a:sym typeface="Koho"/>
              </a:rPr>
              <a:t>: Orang-orang yang aktif mencari info peluncuran mobil sport atau mobil listrik terbaru, serta gemar datang ke pameran eksklusif, Melihat katalog harga yang berkisar ratusan juta hingga miliaran rupiah (seperti Alphard atau Civic Type R), aplikasi ini menyasar calon pembeli potensial di segmen premium.</a:t>
            </a:r>
          </a:p>
        </p:txBody>
      </p:sp>
      <p:sp>
        <p:nvSpPr>
          <p:cNvPr name="Freeform 14" id="14"/>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21065" y="8098743"/>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523291" y="7812831"/>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5193131" y="1319129"/>
            <a:ext cx="9197936" cy="1402711"/>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FITUR UTAMA APK</a:t>
            </a:r>
          </a:p>
        </p:txBody>
      </p:sp>
      <p:sp>
        <p:nvSpPr>
          <p:cNvPr name="TextBox 14" id="14"/>
          <p:cNvSpPr txBox="true"/>
          <p:nvPr/>
        </p:nvSpPr>
        <p:spPr>
          <a:xfrm rot="0">
            <a:off x="1028700" y="3183414"/>
            <a:ext cx="3080086" cy="2674520"/>
          </a:xfrm>
          <a:prstGeom prst="rect">
            <a:avLst/>
          </a:prstGeom>
        </p:spPr>
        <p:txBody>
          <a:bodyPr anchor="t" rtlCol="false" tIns="0" lIns="0" bIns="0" rIns="0">
            <a:spAutoFit/>
          </a:bodyPr>
          <a:lstStyle/>
          <a:p>
            <a:pPr algn="l">
              <a:lnSpc>
                <a:spcPts val="3546"/>
              </a:lnSpc>
            </a:pPr>
            <a:r>
              <a:rPr lang="en-US" sz="2533">
                <a:solidFill>
                  <a:srgbClr val="000000"/>
                </a:solidFill>
                <a:latin typeface="Koho"/>
                <a:ea typeface="Koho"/>
                <a:cs typeface="Koho"/>
                <a:sym typeface="Koho"/>
              </a:rPr>
              <a:t>CRUD: Sistem CRUD pada aplikasi ini berfokus pada manajemen inventaris unit mobil pameran dan jadwal acara.</a:t>
            </a:r>
          </a:p>
        </p:txBody>
      </p:sp>
      <p:sp>
        <p:nvSpPr>
          <p:cNvPr name="TextBox 15" id="15"/>
          <p:cNvSpPr txBox="true"/>
          <p:nvPr/>
        </p:nvSpPr>
        <p:spPr>
          <a:xfrm rot="0">
            <a:off x="4835045" y="3183414"/>
            <a:ext cx="3066396" cy="3555938"/>
          </a:xfrm>
          <a:prstGeom prst="rect">
            <a:avLst/>
          </a:prstGeom>
        </p:spPr>
        <p:txBody>
          <a:bodyPr anchor="t" rtlCol="false" tIns="0" lIns="0" bIns="0" rIns="0">
            <a:spAutoFit/>
          </a:bodyPr>
          <a:lstStyle/>
          <a:p>
            <a:pPr algn="l">
              <a:lnSpc>
                <a:spcPts val="3530"/>
              </a:lnSpc>
            </a:pPr>
            <a:r>
              <a:rPr lang="en-US" sz="2522">
                <a:solidFill>
                  <a:srgbClr val="000000"/>
                </a:solidFill>
                <a:latin typeface="Koho"/>
                <a:ea typeface="Koho"/>
                <a:cs typeface="Koho"/>
                <a:sym typeface="Koho"/>
              </a:rPr>
              <a:t>API: API bekerja di balik layar untuk menangani pertukaran data tanpa perlu memuat ulang seluruh halaman (asynchronous).</a:t>
            </a:r>
          </a:p>
        </p:txBody>
      </p:sp>
      <p:sp>
        <p:nvSpPr>
          <p:cNvPr name="TextBox 16" id="16"/>
          <p:cNvSpPr txBox="true"/>
          <p:nvPr/>
        </p:nvSpPr>
        <p:spPr>
          <a:xfrm rot="0">
            <a:off x="8250595" y="3183414"/>
            <a:ext cx="3083009" cy="3125979"/>
          </a:xfrm>
          <a:prstGeom prst="rect">
            <a:avLst/>
          </a:prstGeom>
        </p:spPr>
        <p:txBody>
          <a:bodyPr anchor="t" rtlCol="false" tIns="0" lIns="0" bIns="0" rIns="0">
            <a:spAutoFit/>
          </a:bodyPr>
          <a:lstStyle/>
          <a:p>
            <a:pPr algn="l">
              <a:lnSpc>
                <a:spcPts val="3550"/>
              </a:lnSpc>
            </a:pPr>
            <a:r>
              <a:rPr lang="en-US" sz="2535">
                <a:solidFill>
                  <a:srgbClr val="000000"/>
                </a:solidFill>
                <a:latin typeface="Koho"/>
                <a:ea typeface="Koho"/>
                <a:cs typeface="Koho"/>
                <a:sym typeface="Koho"/>
              </a:rPr>
              <a:t>Fitur autentikasi: bertindak sebagai gerbang keamanan untuk membedakan hak akses di dalam aplikasi AutoVerse Pameran.</a:t>
            </a:r>
          </a:p>
        </p:txBody>
      </p:sp>
      <p:sp>
        <p:nvSpPr>
          <p:cNvPr name="TextBox 17" id="17"/>
          <p:cNvSpPr txBox="true"/>
          <p:nvPr/>
        </p:nvSpPr>
        <p:spPr>
          <a:xfrm rot="0">
            <a:off x="11994892" y="3192939"/>
            <a:ext cx="3572866" cy="4674084"/>
          </a:xfrm>
          <a:prstGeom prst="rect">
            <a:avLst/>
          </a:prstGeom>
        </p:spPr>
        <p:txBody>
          <a:bodyPr anchor="t" rtlCol="false" tIns="0" lIns="0" bIns="0" rIns="0">
            <a:spAutoFit/>
          </a:bodyPr>
          <a:lstStyle/>
          <a:p>
            <a:pPr algn="l">
              <a:lnSpc>
                <a:spcPts val="3376"/>
              </a:lnSpc>
            </a:pPr>
            <a:r>
              <a:rPr lang="en-US" sz="2411">
                <a:solidFill>
                  <a:srgbClr val="000000"/>
                </a:solidFill>
                <a:latin typeface="Koho"/>
                <a:ea typeface="Koho"/>
                <a:cs typeface="Koho"/>
                <a:sym typeface="Koho"/>
              </a:rPr>
              <a:t>Queue: Ketika ada pendaftaran event baru (misalnya pada event dengan kapasitas 150 atau 500 orang), sistem menggunakan queue untuk memproses validasi tiket, kalkulasi sisa kuota, dan antrean pemesanan slot secara berurutan di latar belakang.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871255"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5195114" y="1306387"/>
            <a:ext cx="7897772" cy="1762116"/>
          </a:xfrm>
          <a:prstGeom prst="rect">
            <a:avLst/>
          </a:prstGeom>
        </p:spPr>
        <p:txBody>
          <a:bodyPr anchor="t" rtlCol="false" tIns="0" lIns="0" bIns="0" rIns="0">
            <a:spAutoFit/>
          </a:bodyPr>
          <a:lstStyle/>
          <a:p>
            <a:pPr algn="ctr">
              <a:lnSpc>
                <a:spcPts val="7073"/>
              </a:lnSpc>
            </a:pPr>
            <a:r>
              <a:rPr lang="en-US" b="true" sz="5052">
                <a:solidFill>
                  <a:srgbClr val="000000"/>
                </a:solidFill>
                <a:latin typeface="Aileron Bold"/>
                <a:ea typeface="Aileron Bold"/>
                <a:cs typeface="Aileron Bold"/>
                <a:sym typeface="Aileron Bold"/>
              </a:rPr>
              <a:t>FITUR LARAVEL 13 YANG DIGUNAKAN</a:t>
            </a:r>
          </a:p>
        </p:txBody>
      </p:sp>
      <p:sp>
        <p:nvSpPr>
          <p:cNvPr name="TextBox 14" id="14"/>
          <p:cNvSpPr txBox="true"/>
          <p:nvPr/>
        </p:nvSpPr>
        <p:spPr>
          <a:xfrm rot="0">
            <a:off x="458042" y="3673126"/>
            <a:ext cx="16616504" cy="3256513"/>
          </a:xfrm>
          <a:prstGeom prst="rect">
            <a:avLst/>
          </a:prstGeom>
        </p:spPr>
        <p:txBody>
          <a:bodyPr anchor="t" rtlCol="false" tIns="0" lIns="0" bIns="0" rIns="0">
            <a:spAutoFit/>
          </a:bodyPr>
          <a:lstStyle/>
          <a:p>
            <a:pPr algn="ctr">
              <a:lnSpc>
                <a:spcPts val="3732"/>
              </a:lnSpc>
            </a:pPr>
            <a:r>
              <a:rPr lang="en-US" sz="2665" b="true">
                <a:solidFill>
                  <a:srgbClr val="000000"/>
                </a:solidFill>
                <a:latin typeface="Koho Bold"/>
                <a:ea typeface="Koho Bold"/>
                <a:cs typeface="Koho Bold"/>
                <a:sym typeface="Koho Bold"/>
              </a:rPr>
              <a:t>Laravel boost</a:t>
            </a:r>
            <a:r>
              <a:rPr lang="en-US" sz="2665">
                <a:solidFill>
                  <a:srgbClr val="000000"/>
                </a:solidFill>
                <a:latin typeface="Koho"/>
                <a:ea typeface="Koho"/>
                <a:cs typeface="Koho"/>
                <a:sym typeface="Koho"/>
              </a:rPr>
              <a:t>: Fitur ini bekerja dengan cara mengotomatiskan caching internal, mengoptimalkan proses routing.</a:t>
            </a:r>
          </a:p>
          <a:p>
            <a:pPr algn="ctr">
              <a:lnSpc>
                <a:spcPts val="3732"/>
              </a:lnSpc>
            </a:pPr>
            <a:r>
              <a:rPr lang="en-US" sz="2665" b="true">
                <a:solidFill>
                  <a:srgbClr val="000000"/>
                </a:solidFill>
                <a:latin typeface="Koho Bold"/>
                <a:ea typeface="Koho Bold"/>
                <a:cs typeface="Koho Bold"/>
                <a:sym typeface="Koho Bold"/>
              </a:rPr>
              <a:t>prefersJsonResponses</a:t>
            </a:r>
            <a:r>
              <a:rPr lang="en-US" sz="2665">
                <a:solidFill>
                  <a:srgbClr val="000000"/>
                </a:solidFill>
                <a:latin typeface="Koho"/>
                <a:ea typeface="Koho"/>
                <a:cs typeface="Koho"/>
                <a:sym typeface="Koho"/>
              </a:rPr>
              <a:t>: Fitur ini memaksa Laravel untuk selalu mengembalikan respons dalam format JSON untuk setiap request yang masuk.</a:t>
            </a:r>
          </a:p>
          <a:p>
            <a:pPr algn="ctr">
              <a:lnSpc>
                <a:spcPts val="3732"/>
              </a:lnSpc>
            </a:pPr>
            <a:r>
              <a:rPr lang="en-US" sz="2665" b="true">
                <a:solidFill>
                  <a:srgbClr val="000000"/>
                </a:solidFill>
                <a:latin typeface="Koho Bold"/>
                <a:ea typeface="Koho Bold"/>
                <a:cs typeface="Koho Bold"/>
                <a:sym typeface="Koho Bold"/>
              </a:rPr>
              <a:t>Queue Routing</a:t>
            </a:r>
            <a:r>
              <a:rPr lang="en-US" sz="2665">
                <a:solidFill>
                  <a:srgbClr val="000000"/>
                </a:solidFill>
                <a:latin typeface="Koho"/>
                <a:ea typeface="Koho"/>
                <a:cs typeface="Koho"/>
                <a:sym typeface="Koho"/>
              </a:rPr>
              <a:t>: mempermudah pemisahan beban kerja aplikasi, misalnya membedakan antrean proses berat.</a:t>
            </a:r>
          </a:p>
          <a:p>
            <a:pPr algn="ctr">
              <a:lnSpc>
                <a:spcPts val="3732"/>
              </a:lnSpc>
            </a:pPr>
            <a:r>
              <a:rPr lang="en-US" sz="2665" b="true">
                <a:solidFill>
                  <a:srgbClr val="000000"/>
                </a:solidFill>
                <a:latin typeface="Koho Bold"/>
                <a:ea typeface="Koho Bold"/>
                <a:cs typeface="Koho Bold"/>
                <a:sym typeface="Koho Bold"/>
              </a:rPr>
              <a:t>Attribute Middleware</a:t>
            </a:r>
            <a:r>
              <a:rPr lang="en-US" sz="2665">
                <a:solidFill>
                  <a:srgbClr val="000000"/>
                </a:solidFill>
                <a:latin typeface="Koho"/>
                <a:ea typeface="Koho"/>
                <a:cs typeface="Koho"/>
                <a:sym typeface="Koho"/>
              </a:rPr>
              <a:t>: metode deklarasi middleware modern di Laravel menggunakan fitur PHP Attributes.</a:t>
            </a:r>
          </a:p>
          <a:p>
            <a:pPr algn="ctr">
              <a:lnSpc>
                <a:spcPts val="3732"/>
              </a:lnSpc>
            </a:pPr>
            <a:r>
              <a:rPr lang="en-US" sz="2665" b="true">
                <a:solidFill>
                  <a:srgbClr val="000000"/>
                </a:solidFill>
                <a:latin typeface="Koho Bold"/>
                <a:ea typeface="Koho Bold"/>
                <a:cs typeface="Koho Bold"/>
                <a:sym typeface="Koho Bold"/>
              </a:rPr>
              <a:t>JSON Response</a:t>
            </a:r>
            <a:r>
              <a:rPr lang="en-US" sz="2665">
                <a:solidFill>
                  <a:srgbClr val="000000"/>
                </a:solidFill>
                <a:latin typeface="Koho"/>
                <a:ea typeface="Koho"/>
                <a:cs typeface="Koho"/>
                <a:sym typeface="Koho"/>
              </a:rPr>
              <a:t>: dibuat menggunakan sintaks return response()-&gt;json($data); yang secara otomatis mengatur header data menjadi Content-Type: application/json agar mudah dibaca oleh sistem lain.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950254" y="7878583"/>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3530315" y="-3969111"/>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9" id="9"/>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1" id="11"/>
          <p:cNvSpPr txBox="true"/>
          <p:nvPr/>
        </p:nvSpPr>
        <p:spPr>
          <a:xfrm rot="0">
            <a:off x="5452858" y="204539"/>
            <a:ext cx="7382284" cy="1402711"/>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AI ASSISTED</a:t>
            </a:r>
          </a:p>
        </p:txBody>
      </p:sp>
      <p:sp>
        <p:nvSpPr>
          <p:cNvPr name="TextBox 12" id="12"/>
          <p:cNvSpPr txBox="true"/>
          <p:nvPr/>
        </p:nvSpPr>
        <p:spPr>
          <a:xfrm rot="0">
            <a:off x="0" y="1531050"/>
            <a:ext cx="7963748" cy="7521617"/>
          </a:xfrm>
          <a:prstGeom prst="rect">
            <a:avLst/>
          </a:prstGeom>
        </p:spPr>
        <p:txBody>
          <a:bodyPr anchor="t" rtlCol="false" tIns="0" lIns="0" bIns="0" rIns="0">
            <a:spAutoFit/>
          </a:bodyPr>
          <a:lstStyle/>
          <a:p>
            <a:pPr algn="ctr">
              <a:lnSpc>
                <a:spcPts val="5422"/>
              </a:lnSpc>
            </a:pPr>
            <a:r>
              <a:rPr lang="en-US" sz="3873">
                <a:solidFill>
                  <a:srgbClr val="000000"/>
                </a:solidFill>
                <a:latin typeface="Koho"/>
                <a:ea typeface="Koho"/>
                <a:cs typeface="Koho"/>
                <a:sym typeface="Koho"/>
              </a:rPr>
              <a:t>Proses Implementasi</a:t>
            </a:r>
          </a:p>
          <a:p>
            <a:pPr algn="ctr">
              <a:lnSpc>
                <a:spcPts val="5422"/>
              </a:lnSpc>
            </a:pPr>
            <a:r>
              <a:rPr lang="en-US" sz="3873">
                <a:solidFill>
                  <a:srgbClr val="000000"/>
                </a:solidFill>
                <a:latin typeface="Koho"/>
                <a:ea typeface="Koho"/>
                <a:cs typeface="Koho"/>
                <a:sym typeface="Koho"/>
              </a:rPr>
              <a:t>Tools: Gemini AI &amp; Open Agent Manager.</a:t>
            </a:r>
          </a:p>
          <a:p>
            <a:pPr algn="ctr">
              <a:lnSpc>
                <a:spcPts val="5422"/>
              </a:lnSpc>
            </a:pPr>
            <a:r>
              <a:rPr lang="en-US" sz="3873">
                <a:solidFill>
                  <a:srgbClr val="000000"/>
                </a:solidFill>
                <a:latin typeface="Koho"/>
                <a:ea typeface="Koho"/>
                <a:cs typeface="Koho"/>
                <a:sym typeface="Koho"/>
              </a:rPr>
              <a:t>Prompt: "Instalasi Laravel Boost dan optimasi middleware menggunakan PHP Attributes di Laravel 13."</a:t>
            </a:r>
          </a:p>
          <a:p>
            <a:pPr algn="ctr">
              <a:lnSpc>
                <a:spcPts val="5422"/>
              </a:lnSpc>
            </a:pPr>
          </a:p>
          <a:p>
            <a:pPr algn="ctr">
              <a:lnSpc>
                <a:spcPts val="5422"/>
              </a:lnSpc>
            </a:pPr>
            <a:r>
              <a:rPr lang="en-US" sz="3873">
                <a:solidFill>
                  <a:srgbClr val="000000"/>
                </a:solidFill>
                <a:latin typeface="Koho"/>
                <a:ea typeface="Koho"/>
                <a:cs typeface="Koho"/>
                <a:sym typeface="Koho"/>
              </a:rPr>
              <a:t>AI digunakan untuk memahami breaking changes dari versi 12 ke 13 dan mempercepat penulisan syntax boilerplate.</a:t>
            </a:r>
          </a:p>
        </p:txBody>
      </p:sp>
      <p:sp>
        <p:nvSpPr>
          <p:cNvPr name="TextBox 13" id="13"/>
          <p:cNvSpPr txBox="true"/>
          <p:nvPr/>
        </p:nvSpPr>
        <p:spPr>
          <a:xfrm rot="0">
            <a:off x="8698265" y="2004402"/>
            <a:ext cx="7963748" cy="6835817"/>
          </a:xfrm>
          <a:prstGeom prst="rect">
            <a:avLst/>
          </a:prstGeom>
        </p:spPr>
        <p:txBody>
          <a:bodyPr anchor="t" rtlCol="false" tIns="0" lIns="0" bIns="0" rIns="0">
            <a:spAutoFit/>
          </a:bodyPr>
          <a:lstStyle/>
          <a:p>
            <a:pPr algn="ctr">
              <a:lnSpc>
                <a:spcPts val="5422"/>
              </a:lnSpc>
            </a:pPr>
            <a:r>
              <a:rPr lang="en-US" sz="3873">
                <a:solidFill>
                  <a:srgbClr val="000000"/>
                </a:solidFill>
                <a:latin typeface="Koho"/>
                <a:ea typeface="Koho"/>
                <a:cs typeface="Koho"/>
                <a:sym typeface="Koho"/>
              </a:rPr>
              <a:t>Analisis Hasil AI</a:t>
            </a:r>
          </a:p>
          <a:p>
            <a:pPr algn="ctr">
              <a:lnSpc>
                <a:spcPts val="5422"/>
              </a:lnSpc>
            </a:pPr>
            <a:r>
              <a:rPr lang="en-US" sz="3873">
                <a:solidFill>
                  <a:srgbClr val="000000"/>
                </a:solidFill>
                <a:latin typeface="Koho"/>
                <a:ea typeface="Koho"/>
                <a:cs typeface="Koho"/>
                <a:sym typeface="Koho"/>
              </a:rPr>
              <a:t>Kelebihan: Mengurangi waktu debugging secara signifikan dan memberikan referensi best-practice terbaru.</a:t>
            </a:r>
          </a:p>
          <a:p>
            <a:pPr algn="ctr">
              <a:lnSpc>
                <a:spcPts val="5422"/>
              </a:lnSpc>
            </a:pPr>
          </a:p>
          <a:p>
            <a:pPr algn="ctr">
              <a:lnSpc>
                <a:spcPts val="5422"/>
              </a:lnSpc>
            </a:pPr>
            <a:r>
              <a:rPr lang="en-US" sz="3873">
                <a:solidFill>
                  <a:srgbClr val="000000"/>
                </a:solidFill>
                <a:latin typeface="Koho"/>
                <a:ea typeface="Koho"/>
                <a:cs typeface="Koho"/>
                <a:sym typeface="Koho"/>
              </a:rPr>
              <a:t>Kekurangan: Tetap memerlukan verifikasi manual agar logika bisnis tetap sesuai dengan kebutuhan perpustakaan.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79301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aphicFrame>
        <p:nvGraphicFramePr>
          <p:cNvPr name="Table 13" id="13"/>
          <p:cNvGraphicFramePr>
            <a:graphicFrameLocks noGrp="true"/>
          </p:cNvGraphicFramePr>
          <p:nvPr/>
        </p:nvGraphicFramePr>
        <p:xfrm>
          <a:off x="2578597" y="2268253"/>
          <a:ext cx="13130805" cy="7044709"/>
        </p:xfrm>
        <a:graphic>
          <a:graphicData uri="http://schemas.openxmlformats.org/drawingml/2006/table">
            <a:tbl>
              <a:tblPr/>
              <a:tblGrid>
                <a:gridCol w="2519858"/>
                <a:gridCol w="5078498"/>
                <a:gridCol w="5532450"/>
              </a:tblGrid>
              <a:tr h="1335010">
                <a:tc>
                  <a:txBody>
                    <a:bodyPr anchor="t" rtlCol="false"/>
                    <a:lstStyle/>
                    <a:p>
                      <a:pPr algn="ctr">
                        <a:lnSpc>
                          <a:spcPts val="3219"/>
                        </a:lnSpc>
                        <a:defRPr/>
                      </a:pPr>
                      <a:r>
                        <a:rPr lang="en-US" sz="2299" b="true">
                          <a:solidFill>
                            <a:srgbClr val="000000"/>
                          </a:solidFill>
                          <a:latin typeface="Aileron Bold"/>
                          <a:ea typeface="Aileron Bold"/>
                          <a:cs typeface="Aileron Bold"/>
                          <a:sym typeface="Aileron Bold"/>
                        </a:rPr>
                        <a:t>ASPEK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19"/>
                        </a:lnSpc>
                        <a:defRPr/>
                      </a:pPr>
                      <a:r>
                        <a:rPr lang="en-US" sz="2299" b="true">
                          <a:solidFill>
                            <a:srgbClr val="000000"/>
                          </a:solidFill>
                          <a:latin typeface="Open Sans Bold"/>
                          <a:ea typeface="Open Sans Bold"/>
                          <a:cs typeface="Open Sans Bold"/>
                          <a:sym typeface="Open Sans Bold"/>
                        </a:rPr>
                        <a:t>LARAVEL 12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19"/>
                        </a:lnSpc>
                        <a:defRPr/>
                      </a:pPr>
                      <a:r>
                        <a:rPr lang="en-US" sz="2299" b="true">
                          <a:solidFill>
                            <a:srgbClr val="000000"/>
                          </a:solidFill>
                          <a:latin typeface="Open Sans Bold"/>
                          <a:ea typeface="Open Sans Bold"/>
                          <a:cs typeface="Open Sans Bold"/>
                          <a:sym typeface="Open Sans Bold"/>
                        </a:rPr>
                        <a:t>LARAVEL13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35010">
                <a:tc>
                  <a:txBody>
                    <a:bodyPr anchor="t" rtlCol="false"/>
                    <a:lstStyle/>
                    <a:p>
                      <a:pPr algn="ctr">
                        <a:lnSpc>
                          <a:spcPts val="3219"/>
                        </a:lnSpc>
                        <a:defRPr/>
                      </a:pPr>
                      <a:r>
                        <a:rPr lang="en-US" sz="2299" b="true">
                          <a:solidFill>
                            <a:srgbClr val="000000"/>
                          </a:solidFill>
                          <a:latin typeface="Aileron Bold"/>
                          <a:ea typeface="Aileron Bold"/>
                          <a:cs typeface="Aileron Bold"/>
                          <a:sym typeface="Aileron Bold"/>
                        </a:rPr>
                        <a:t>AI Support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19"/>
                        </a:lnSpc>
                        <a:defRPr/>
                      </a:pPr>
                      <a:r>
                        <a:rPr lang="en-US" sz="2299" b="true">
                          <a:solidFill>
                            <a:srgbClr val="000000"/>
                          </a:solidFill>
                          <a:latin typeface="Arimo Bold"/>
                          <a:ea typeface="Arimo Bold"/>
                          <a:cs typeface="Arimo Bold"/>
                          <a:sym typeface="Arimo Bold"/>
                        </a:rPr>
                        <a:t>Belum ada bawaan (harus pakai </a:t>
                      </a:r>
                      <a:r>
                        <a:rPr lang="en-US" sz="2299" i="true" b="true">
                          <a:solidFill>
                            <a:srgbClr val="000000"/>
                          </a:solidFill>
                          <a:latin typeface="Arimo Bold Italics"/>
                          <a:ea typeface="Arimo Bold Italics"/>
                          <a:cs typeface="Arimo Bold Italics"/>
                          <a:sym typeface="Arimo Bold Italics"/>
                        </a:rPr>
                        <a:t>package</a:t>
                      </a:r>
                      <a:r>
                        <a:rPr lang="en-US" sz="2299" b="true">
                          <a:solidFill>
                            <a:srgbClr val="000000"/>
                          </a:solidFill>
                          <a:latin typeface="Arimo Bold"/>
                          <a:ea typeface="Arimo Bold"/>
                          <a:cs typeface="Arimo Bold"/>
                          <a:sym typeface="Arimo Bold"/>
                        </a:rPr>
                        <a:t> tambahan).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19"/>
                        </a:lnSpc>
                        <a:defRPr/>
                      </a:pPr>
                      <a:r>
                        <a:rPr lang="en-US" sz="2299" b="true">
                          <a:solidFill>
                            <a:srgbClr val="000000"/>
                          </a:solidFill>
                          <a:latin typeface="Arimo Bold"/>
                          <a:ea typeface="Arimo Bold"/>
                          <a:cs typeface="Arimo Bold"/>
                          <a:sym typeface="Arimo Bold"/>
                        </a:rPr>
                        <a:t>Sudah ada </a:t>
                      </a:r>
                      <a:r>
                        <a:rPr lang="en-US" sz="2299" b="true">
                          <a:solidFill>
                            <a:srgbClr val="000000"/>
                          </a:solidFill>
                          <a:latin typeface="Arimo Bold"/>
                          <a:ea typeface="Arimo Bold"/>
                          <a:cs typeface="Arimo Bold"/>
                          <a:sym typeface="Arimo Bold"/>
                        </a:rPr>
                        <a:t>Laravel AI SDK resmi bawaan framework.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35010">
                <a:tc>
                  <a:txBody>
                    <a:bodyPr anchor="t" rtlCol="false"/>
                    <a:lstStyle/>
                    <a:p>
                      <a:pPr algn="ctr">
                        <a:lnSpc>
                          <a:spcPts val="3219"/>
                        </a:lnSpc>
                        <a:defRPr/>
                      </a:pPr>
                      <a:r>
                        <a:rPr lang="en-US" sz="2299" b="true">
                          <a:solidFill>
                            <a:srgbClr val="000000"/>
                          </a:solidFill>
                          <a:latin typeface="Open Sans Bold"/>
                          <a:ea typeface="Open Sans Bold"/>
                          <a:cs typeface="Open Sans Bold"/>
                          <a:sym typeface="Open Sans Bold"/>
                        </a:rPr>
                        <a:t>AI Support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079"/>
                        </a:lnSpc>
                        <a:defRPr/>
                      </a:pPr>
                      <a:r>
                        <a:rPr lang="en-US" sz="2199" b="true">
                          <a:solidFill>
                            <a:srgbClr val="000000"/>
                          </a:solidFill>
                          <a:latin typeface="Arimo Bold"/>
                          <a:ea typeface="Arimo Bold"/>
                          <a:cs typeface="Arimo Bold"/>
                          <a:sym typeface="Arimo Bold"/>
                        </a:rPr>
                        <a:t>Pakai JsonResource biasa (atur format manual).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19"/>
                        </a:lnSpc>
                        <a:defRPr/>
                      </a:pPr>
                      <a:r>
                        <a:rPr lang="en-US" sz="2299" b="true">
                          <a:solidFill>
                            <a:srgbClr val="000000"/>
                          </a:solidFill>
                          <a:latin typeface="Arimo Bold"/>
                          <a:ea typeface="Arimo Bold"/>
                          <a:cs typeface="Arimo Bold"/>
                          <a:sym typeface="Arimo Bold"/>
                        </a:rPr>
                        <a:t>Pakai JSON:API Resources yang otomatis patuh standar global.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704669">
                <a:tc>
                  <a:txBody>
                    <a:bodyPr anchor="t" rtlCol="false"/>
                    <a:lstStyle/>
                    <a:p>
                      <a:pPr algn="ctr">
                        <a:lnSpc>
                          <a:spcPts val="3219"/>
                        </a:lnSpc>
                        <a:defRPr/>
                      </a:pPr>
                      <a:r>
                        <a:rPr lang="en-US" sz="2299" b="true">
                          <a:solidFill>
                            <a:srgbClr val="000000"/>
                          </a:solidFill>
                          <a:latin typeface="Open Sans Bold"/>
                          <a:ea typeface="Open Sans Bold"/>
                          <a:cs typeface="Open Sans Bold"/>
                          <a:sym typeface="Open Sans Bold"/>
                        </a:rPr>
                        <a:t>Security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19"/>
                        </a:lnSpc>
                        <a:defRPr/>
                      </a:pPr>
                      <a:r>
                        <a:rPr lang="en-US" sz="2299" b="true">
                          <a:solidFill>
                            <a:srgbClr val="000000"/>
                          </a:solidFill>
                          <a:latin typeface="Open Sans Bold"/>
                          <a:ea typeface="Open Sans Bold"/>
                          <a:cs typeface="Open Sans Bold"/>
                          <a:sym typeface="Open Sans Bold"/>
                        </a:rPr>
                        <a:t>Proteksi CSRF standar menggunakan token teks biasa.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19"/>
                        </a:lnSpc>
                        <a:defRPr/>
                      </a:pPr>
                      <a:r>
                        <a:rPr lang="en-US" sz="2299" b="true">
                          <a:solidFill>
                            <a:srgbClr val="000000"/>
                          </a:solidFill>
                          <a:latin typeface="Arimo Bold"/>
                          <a:ea typeface="Arimo Bold"/>
                          <a:cs typeface="Arimo Bold"/>
                          <a:sym typeface="Arimo Bold"/>
                        </a:rPr>
                        <a:t>Lebih ketat dengan sistem baru (</a:t>
                      </a:r>
                      <a:r>
                        <a:rPr lang="en-US" sz="2299" i="true" b="true">
                          <a:solidFill>
                            <a:srgbClr val="000000"/>
                          </a:solidFill>
                          <a:latin typeface="Arimo Bold Italics"/>
                          <a:ea typeface="Arimo Bold Italics"/>
                          <a:cs typeface="Arimo Bold Italics"/>
                          <a:sym typeface="Arimo Bold Italics"/>
                        </a:rPr>
                        <a:t>origin-aware verification</a:t>
                      </a:r>
                      <a:r>
                        <a:rPr lang="en-US" sz="2299" b="true">
                          <a:solidFill>
                            <a:srgbClr val="000000"/>
                          </a:solidFill>
                          <a:latin typeface="Arimo Bold"/>
                          <a:ea typeface="Arimo Bold"/>
                          <a:cs typeface="Arimo Bold"/>
                          <a:sym typeface="Arimo Bold"/>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35010">
                <a:tc>
                  <a:txBody>
                    <a:bodyPr anchor="t" rtlCol="false"/>
                    <a:lstStyle/>
                    <a:p>
                      <a:pPr algn="ctr">
                        <a:lnSpc>
                          <a:spcPts val="3219"/>
                        </a:lnSpc>
                        <a:defRPr/>
                      </a:pPr>
                      <a:r>
                        <a:rPr lang="en-US" sz="2299" b="true">
                          <a:solidFill>
                            <a:srgbClr val="000000"/>
                          </a:solidFill>
                          <a:latin typeface="Open Sans Bold"/>
                          <a:ea typeface="Open Sans Bold"/>
                          <a:cs typeface="Open Sans Bold"/>
                          <a:sym typeface="Open Sans Bold"/>
                        </a:rPr>
                        <a:t>Queue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19"/>
                        </a:lnSpc>
                        <a:defRPr/>
                      </a:pPr>
                      <a:r>
                        <a:rPr lang="en-US" sz="2299" b="true">
                          <a:solidFill>
                            <a:srgbClr val="000000"/>
                          </a:solidFill>
                          <a:latin typeface="Arimo Bold"/>
                          <a:ea typeface="Arimo Bold"/>
                          <a:cs typeface="Arimo Bold"/>
                          <a:sym typeface="Arimo Bold"/>
                        </a:rPr>
                        <a:t>Pengaturan antrean ditulis menyebar di setiap kelas </a:t>
                      </a:r>
                      <a:r>
                        <a:rPr lang="en-US" sz="2299" i="true" b="true">
                          <a:solidFill>
                            <a:srgbClr val="000000"/>
                          </a:solidFill>
                          <a:latin typeface="Arimo Bold Italics"/>
                          <a:ea typeface="Arimo Bold Italics"/>
                          <a:cs typeface="Arimo Bold Italics"/>
                          <a:sym typeface="Arimo Bold Italics"/>
                        </a:rPr>
                        <a:t>Job</a:t>
                      </a:r>
                      <a:r>
                        <a:rPr lang="en-US" sz="2299" b="true">
                          <a:solidFill>
                            <a:srgbClr val="000000"/>
                          </a:solidFill>
                          <a:latin typeface="Arimo Bold"/>
                          <a:ea typeface="Arimo Bold"/>
                          <a:cs typeface="Arimo Bold"/>
                          <a:sym typeface="Arimo Bold"/>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19"/>
                        </a:lnSpc>
                        <a:defRPr/>
                      </a:pPr>
                      <a:r>
                        <a:rPr lang="en-US" sz="2299" b="true">
                          <a:solidFill>
                            <a:srgbClr val="000000"/>
                          </a:solidFill>
                          <a:latin typeface="Arimo Bold"/>
                          <a:ea typeface="Arimo Bold"/>
                          <a:cs typeface="Arimo Bold"/>
                          <a:sym typeface="Arimo Bold"/>
                        </a:rPr>
                        <a:t>Pengaturan antrean rapi dipusatkan di satu tempat (</a:t>
                      </a:r>
                      <a:r>
                        <a:rPr lang="en-US" sz="2299" b="true">
                          <a:solidFill>
                            <a:srgbClr val="000000"/>
                          </a:solidFill>
                          <a:latin typeface="Arimo Bold"/>
                          <a:ea typeface="Arimo Bold"/>
                          <a:cs typeface="Arimo Bold"/>
                          <a:sym typeface="Arimo Bold"/>
                        </a:rPr>
                        <a:t>Queue Routing).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4" id="14"/>
          <p:cNvSpPr txBox="true"/>
          <p:nvPr/>
        </p:nvSpPr>
        <p:spPr>
          <a:xfrm rot="0">
            <a:off x="5218771" y="1340002"/>
            <a:ext cx="7850457" cy="690126"/>
          </a:xfrm>
          <a:prstGeom prst="rect">
            <a:avLst/>
          </a:prstGeom>
        </p:spPr>
        <p:txBody>
          <a:bodyPr anchor="t" rtlCol="false" tIns="0" lIns="0" bIns="0" rIns="0">
            <a:spAutoFit/>
          </a:bodyPr>
          <a:lstStyle/>
          <a:p>
            <a:pPr algn="ctr">
              <a:lnSpc>
                <a:spcPts val="5645"/>
              </a:lnSpc>
            </a:pPr>
            <a:r>
              <a:rPr lang="en-US" b="true" sz="4032">
                <a:solidFill>
                  <a:srgbClr val="000000"/>
                </a:solidFill>
                <a:latin typeface="Aileron Bold"/>
                <a:ea typeface="Aileron Bold"/>
                <a:cs typeface="Aileron Bold"/>
                <a:sym typeface="Aileron Bold"/>
              </a:rPr>
              <a:t>LARAVEL12 VS LARAVEL 13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396474" y="3447193"/>
            <a:ext cx="7369819" cy="4145523"/>
          </a:xfrm>
          <a:custGeom>
            <a:avLst/>
            <a:gdLst/>
            <a:ahLst/>
            <a:cxnLst/>
            <a:rect r="r" b="b" t="t" l="l"/>
            <a:pathLst>
              <a:path h="4145523" w="7369819">
                <a:moveTo>
                  <a:pt x="0" y="0"/>
                </a:moveTo>
                <a:lnTo>
                  <a:pt x="7369820" y="0"/>
                </a:lnTo>
                <a:lnTo>
                  <a:pt x="7369820" y="4145524"/>
                </a:lnTo>
                <a:lnTo>
                  <a:pt x="0" y="4145524"/>
                </a:lnTo>
                <a:lnTo>
                  <a:pt x="0" y="0"/>
                </a:lnTo>
                <a:close/>
              </a:path>
            </a:pathLst>
          </a:custGeom>
          <a:blipFill>
            <a:blip r:embed="rId14"/>
            <a:stretch>
              <a:fillRect l="0" t="0" r="0" b="0"/>
            </a:stretch>
          </a:blipFill>
        </p:spPr>
      </p:sp>
      <p:sp>
        <p:nvSpPr>
          <p:cNvPr name="Freeform 14" id="14"/>
          <p:cNvSpPr/>
          <p:nvPr/>
        </p:nvSpPr>
        <p:spPr>
          <a:xfrm flipH="false" flipV="false" rot="0">
            <a:off x="9449473" y="3447193"/>
            <a:ext cx="7212539" cy="4057053"/>
          </a:xfrm>
          <a:custGeom>
            <a:avLst/>
            <a:gdLst/>
            <a:ahLst/>
            <a:cxnLst/>
            <a:rect r="r" b="b" t="t" l="l"/>
            <a:pathLst>
              <a:path h="4057053" w="7212539">
                <a:moveTo>
                  <a:pt x="0" y="0"/>
                </a:moveTo>
                <a:lnTo>
                  <a:pt x="7212539" y="0"/>
                </a:lnTo>
                <a:lnTo>
                  <a:pt x="7212539" y="4057054"/>
                </a:lnTo>
                <a:lnTo>
                  <a:pt x="0" y="4057054"/>
                </a:lnTo>
                <a:lnTo>
                  <a:pt x="0" y="0"/>
                </a:lnTo>
                <a:close/>
              </a:path>
            </a:pathLst>
          </a:custGeom>
          <a:blipFill>
            <a:blip r:embed="rId15"/>
            <a:stretch>
              <a:fillRect l="0" t="0" r="0" b="0"/>
            </a:stretch>
          </a:blipFill>
        </p:spPr>
      </p:sp>
      <p:sp>
        <p:nvSpPr>
          <p:cNvPr name="TextBox 15" id="15"/>
          <p:cNvSpPr txBox="true"/>
          <p:nvPr/>
        </p:nvSpPr>
        <p:spPr>
          <a:xfrm rot="0">
            <a:off x="2788483" y="1165751"/>
            <a:ext cx="12711033" cy="1402803"/>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SCREENSHOT PROJECT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991403" y="7887184"/>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687044" y="-5402624"/>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3387144" y="7811519"/>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788483"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8555504" y="-2333504"/>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488613" y="8229600"/>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3525771" y="-5997291"/>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736483" y="2897808"/>
            <a:ext cx="6782098" cy="4864300"/>
          </a:xfrm>
          <a:custGeom>
            <a:avLst/>
            <a:gdLst/>
            <a:ahLst/>
            <a:cxnLst/>
            <a:rect r="r" b="b" t="t" l="l"/>
            <a:pathLst>
              <a:path h="4864300" w="6782098">
                <a:moveTo>
                  <a:pt x="0" y="0"/>
                </a:moveTo>
                <a:lnTo>
                  <a:pt x="6782099" y="0"/>
                </a:lnTo>
                <a:lnTo>
                  <a:pt x="6782099" y="4864300"/>
                </a:lnTo>
                <a:lnTo>
                  <a:pt x="0" y="4864300"/>
                </a:lnTo>
                <a:lnTo>
                  <a:pt x="0" y="0"/>
                </a:lnTo>
                <a:close/>
              </a:path>
            </a:pathLst>
          </a:custGeom>
          <a:blipFill>
            <a:blip r:embed="rId14"/>
            <a:stretch>
              <a:fillRect l="0" t="0" r="0" b="0"/>
            </a:stretch>
          </a:blipFill>
        </p:spPr>
      </p:sp>
      <p:sp>
        <p:nvSpPr>
          <p:cNvPr name="Freeform 14" id="14"/>
          <p:cNvSpPr/>
          <p:nvPr/>
        </p:nvSpPr>
        <p:spPr>
          <a:xfrm flipH="false" flipV="false" rot="0">
            <a:off x="8555504" y="2897808"/>
            <a:ext cx="4951506" cy="4876102"/>
          </a:xfrm>
          <a:custGeom>
            <a:avLst/>
            <a:gdLst/>
            <a:ahLst/>
            <a:cxnLst/>
            <a:rect r="r" b="b" t="t" l="l"/>
            <a:pathLst>
              <a:path h="4876102" w="4951506">
                <a:moveTo>
                  <a:pt x="0" y="0"/>
                </a:moveTo>
                <a:lnTo>
                  <a:pt x="4951505" y="0"/>
                </a:lnTo>
                <a:lnTo>
                  <a:pt x="4951505" y="4876102"/>
                </a:lnTo>
                <a:lnTo>
                  <a:pt x="0" y="4876102"/>
                </a:lnTo>
                <a:lnTo>
                  <a:pt x="0" y="0"/>
                </a:lnTo>
                <a:close/>
              </a:path>
            </a:pathLst>
          </a:custGeom>
          <a:blipFill>
            <a:blip r:embed="rId15"/>
            <a:stretch>
              <a:fillRect l="0" t="0" r="0" b="0"/>
            </a:stretch>
          </a:blipFill>
        </p:spPr>
      </p:sp>
      <p:sp>
        <p:nvSpPr>
          <p:cNvPr name="Freeform 15" id="15"/>
          <p:cNvSpPr/>
          <p:nvPr/>
        </p:nvSpPr>
        <p:spPr>
          <a:xfrm flipH="false" flipV="false" rot="0">
            <a:off x="14313595" y="2897808"/>
            <a:ext cx="3205439" cy="4748798"/>
          </a:xfrm>
          <a:custGeom>
            <a:avLst/>
            <a:gdLst/>
            <a:ahLst/>
            <a:cxnLst/>
            <a:rect r="r" b="b" t="t" l="l"/>
            <a:pathLst>
              <a:path h="4748798" w="3205439">
                <a:moveTo>
                  <a:pt x="0" y="0"/>
                </a:moveTo>
                <a:lnTo>
                  <a:pt x="3205439" y="0"/>
                </a:lnTo>
                <a:lnTo>
                  <a:pt x="3205439" y="4748798"/>
                </a:lnTo>
                <a:lnTo>
                  <a:pt x="0" y="4748798"/>
                </a:lnTo>
                <a:lnTo>
                  <a:pt x="0" y="0"/>
                </a:lnTo>
                <a:close/>
              </a:path>
            </a:pathLst>
          </a:custGeom>
          <a:blipFill>
            <a:blip r:embed="rId16"/>
            <a:stretch>
              <a:fillRect l="0" t="0" r="0" b="0"/>
            </a:stretch>
          </a:blipFill>
        </p:spPr>
      </p:sp>
      <p:sp>
        <p:nvSpPr>
          <p:cNvPr name="TextBox 16" id="16"/>
          <p:cNvSpPr txBox="true"/>
          <p:nvPr/>
        </p:nvSpPr>
        <p:spPr>
          <a:xfrm rot="0">
            <a:off x="2752132" y="1187114"/>
            <a:ext cx="12783736" cy="1045195"/>
          </a:xfrm>
          <a:prstGeom prst="rect">
            <a:avLst/>
          </a:prstGeom>
        </p:spPr>
        <p:txBody>
          <a:bodyPr anchor="t" rtlCol="false" tIns="0" lIns="0" bIns="0" rIns="0">
            <a:spAutoFit/>
          </a:bodyPr>
          <a:lstStyle/>
          <a:p>
            <a:pPr algn="ctr">
              <a:lnSpc>
                <a:spcPts val="8472"/>
              </a:lnSpc>
            </a:pPr>
            <a:r>
              <a:rPr lang="en-US" b="true" sz="6051">
                <a:solidFill>
                  <a:srgbClr val="000000"/>
                </a:solidFill>
                <a:latin typeface="Aileron Bold"/>
                <a:ea typeface="Aileron Bold"/>
                <a:cs typeface="Aileron Bold"/>
                <a:sym typeface="Aileron Bold"/>
              </a:rPr>
              <a:t>SCREENSHOT GITHUB DAN REPO</a:t>
            </a:r>
          </a:p>
        </p:txBody>
      </p:sp>
      <p:sp>
        <p:nvSpPr>
          <p:cNvPr name="TextBox 17" id="17"/>
          <p:cNvSpPr txBox="true"/>
          <p:nvPr/>
        </p:nvSpPr>
        <p:spPr>
          <a:xfrm rot="0">
            <a:off x="2788483" y="8250278"/>
            <a:ext cx="12193002" cy="589941"/>
          </a:xfrm>
          <a:prstGeom prst="rect">
            <a:avLst/>
          </a:prstGeom>
        </p:spPr>
        <p:txBody>
          <a:bodyPr anchor="t" rtlCol="false" tIns="0" lIns="0" bIns="0" rIns="0">
            <a:spAutoFit/>
          </a:bodyPr>
          <a:lstStyle/>
          <a:p>
            <a:pPr algn="ctr">
              <a:lnSpc>
                <a:spcPts val="4724"/>
              </a:lnSpc>
              <a:spcBef>
                <a:spcPct val="0"/>
              </a:spcBef>
            </a:pPr>
            <a:r>
              <a:rPr lang="en-US" sz="3374">
                <a:solidFill>
                  <a:srgbClr val="000000"/>
                </a:solidFill>
                <a:latin typeface="Aileron"/>
                <a:ea typeface="Aileron"/>
                <a:cs typeface="Aileron"/>
                <a:sym typeface="Aileron"/>
              </a:rPr>
              <a:t>https://github.com/MRyanArisandy/tugas_laravel_pameran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888531" y="8584688"/>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408593" y="-6032043"/>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904620" y="7339605"/>
            <a:ext cx="8105660" cy="6172200"/>
          </a:xfrm>
          <a:custGeom>
            <a:avLst/>
            <a:gdLst/>
            <a:ahLst/>
            <a:cxnLst/>
            <a:rect r="r" b="b" t="t" l="l"/>
            <a:pathLst>
              <a:path h="6172200" w="8105660">
                <a:moveTo>
                  <a:pt x="8105661" y="0"/>
                </a:moveTo>
                <a:lnTo>
                  <a:pt x="0" y="0"/>
                </a:lnTo>
                <a:lnTo>
                  <a:pt x="0" y="6172200"/>
                </a:lnTo>
                <a:lnTo>
                  <a:pt x="8105661" y="6172200"/>
                </a:lnTo>
                <a:lnTo>
                  <a:pt x="810566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3851860" y="-3969111"/>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713233" y="8615229"/>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3345096" y="-6180870"/>
            <a:ext cx="7828407" cy="8229600"/>
          </a:xfrm>
          <a:custGeom>
            <a:avLst/>
            <a:gdLst/>
            <a:ahLst/>
            <a:cxnLst/>
            <a:rect r="r" b="b" t="t" l="l"/>
            <a:pathLst>
              <a:path h="8229600" w="7828407">
                <a:moveTo>
                  <a:pt x="0" y="0"/>
                </a:moveTo>
                <a:lnTo>
                  <a:pt x="7828408" y="0"/>
                </a:lnTo>
                <a:lnTo>
                  <a:pt x="7828408"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4532404" y="-62339"/>
            <a:ext cx="8493297" cy="1402711"/>
          </a:xfrm>
          <a:prstGeom prst="rect">
            <a:avLst/>
          </a:prstGeom>
        </p:spPr>
        <p:txBody>
          <a:bodyPr anchor="t" rtlCol="false" tIns="0" lIns="0" bIns="0" rIns="0">
            <a:spAutoFit/>
          </a:bodyPr>
          <a:lstStyle/>
          <a:p>
            <a:pPr algn="ctr">
              <a:lnSpc>
                <a:spcPts val="11410"/>
              </a:lnSpc>
            </a:pPr>
            <a:r>
              <a:rPr lang="en-US" b="true" sz="8150">
                <a:solidFill>
                  <a:srgbClr val="000000"/>
                </a:solidFill>
                <a:latin typeface="Aileron Bold"/>
                <a:ea typeface="Aileron Bold"/>
                <a:cs typeface="Aileron Bold"/>
                <a:sym typeface="Aileron Bold"/>
              </a:rPr>
              <a:t>ANALYSIS</a:t>
            </a:r>
          </a:p>
        </p:txBody>
      </p:sp>
      <p:sp>
        <p:nvSpPr>
          <p:cNvPr name="TextBox 14" id="14"/>
          <p:cNvSpPr txBox="true"/>
          <p:nvPr/>
        </p:nvSpPr>
        <p:spPr>
          <a:xfrm rot="0">
            <a:off x="286046" y="971550"/>
            <a:ext cx="16960495" cy="8245805"/>
          </a:xfrm>
          <a:prstGeom prst="rect">
            <a:avLst/>
          </a:prstGeom>
        </p:spPr>
        <p:txBody>
          <a:bodyPr anchor="t" rtlCol="false" tIns="0" lIns="0" bIns="0" rIns="0">
            <a:spAutoFit/>
          </a:bodyPr>
          <a:lstStyle/>
          <a:p>
            <a:pPr algn="l">
              <a:lnSpc>
                <a:spcPts val="3831"/>
              </a:lnSpc>
            </a:pPr>
            <a:r>
              <a:rPr lang="en-US" sz="2736" b="true">
                <a:solidFill>
                  <a:srgbClr val="000000"/>
                </a:solidFill>
                <a:latin typeface="Koho Bold"/>
                <a:ea typeface="Koho Bold"/>
                <a:cs typeface="Koho Bold"/>
                <a:sym typeface="Koho Bold"/>
              </a:rPr>
              <a:t>Pengalaman Menggunakan Laravel 13</a:t>
            </a:r>
            <a:r>
              <a:rPr lang="en-US" sz="2736">
                <a:solidFill>
                  <a:srgbClr val="000000"/>
                </a:solidFill>
                <a:latin typeface="Koho"/>
                <a:ea typeface="Koho"/>
                <a:cs typeface="Koho"/>
                <a:sym typeface="Koho"/>
              </a:rPr>
              <a:t>: </a:t>
            </a:r>
            <a:r>
              <a:rPr lang="en-US" sz="2736">
                <a:solidFill>
                  <a:srgbClr val="000000"/>
                </a:solidFill>
                <a:latin typeface="Koho"/>
                <a:ea typeface="Koho"/>
                <a:cs typeface="Koho"/>
                <a:sym typeface="Koho"/>
              </a:rPr>
              <a:t>Menulis kode terasa lebih sat-set karena banyak fitur umum (seperti pengaturan format JSON) yang sekarang bisa diotomatiskan langsung dari konfigurasi dasar framework.</a:t>
            </a:r>
          </a:p>
          <a:p>
            <a:pPr algn="l">
              <a:lnSpc>
                <a:spcPts val="3831"/>
              </a:lnSpc>
            </a:pPr>
            <a:r>
              <a:rPr lang="en-US" sz="2736" b="true">
                <a:solidFill>
                  <a:srgbClr val="000000"/>
                </a:solidFill>
                <a:latin typeface="Koho Bold"/>
                <a:ea typeface="Koho Bold"/>
                <a:cs typeface="Koho Bold"/>
                <a:sym typeface="Koho Bold"/>
              </a:rPr>
              <a:t>Pengalaman Menggunakan AI dalam Development</a:t>
            </a:r>
            <a:r>
              <a:rPr lang="en-US" sz="2736">
                <a:solidFill>
                  <a:srgbClr val="000000"/>
                </a:solidFill>
                <a:latin typeface="Koho"/>
                <a:ea typeface="Koho"/>
                <a:cs typeface="Koho"/>
                <a:sym typeface="Koho"/>
              </a:rPr>
              <a:t>: Asisten Coding yang Responsif, AI sangat membantu sebagai teman diskusi untuk memahami dokumentasi baru, mempercepat pencarian syntax yang lupa, dan memberikan rekomendasi struktur database yang efisien.</a:t>
            </a:r>
          </a:p>
          <a:p>
            <a:pPr algn="l">
              <a:lnSpc>
                <a:spcPts val="3831"/>
              </a:lnSpc>
            </a:pPr>
            <a:r>
              <a:rPr lang="en-US" sz="2736" b="true">
                <a:solidFill>
                  <a:srgbClr val="000000"/>
                </a:solidFill>
                <a:latin typeface="Koho Bold"/>
                <a:ea typeface="Koho Bold"/>
                <a:cs typeface="Koho Bold"/>
                <a:sym typeface="Koho Bold"/>
              </a:rPr>
              <a:t>Fitur Laravel 13 yang Paling Menarik: Laravel AI SDK &amp; JSON</a:t>
            </a:r>
            <a:r>
              <a:rPr lang="en-US" sz="2736">
                <a:solidFill>
                  <a:srgbClr val="000000"/>
                </a:solidFill>
                <a:latin typeface="Koho"/>
                <a:ea typeface="Koho"/>
                <a:cs typeface="Koho"/>
                <a:sym typeface="Koho"/>
              </a:rPr>
              <a:t>:API Resources: Kedua fitur ini paling menarik karena sangat relevan dengan kebutuhan aplikasi modern.</a:t>
            </a:r>
          </a:p>
          <a:p>
            <a:pPr algn="l">
              <a:lnSpc>
                <a:spcPts val="3831"/>
              </a:lnSpc>
            </a:pPr>
            <a:r>
              <a:rPr lang="en-US" sz="2736" b="true">
                <a:solidFill>
                  <a:srgbClr val="000000"/>
                </a:solidFill>
                <a:latin typeface="Koho Bold"/>
                <a:ea typeface="Koho Bold"/>
                <a:cs typeface="Koho Bold"/>
                <a:sym typeface="Koho Bold"/>
              </a:rPr>
              <a:t>Perbedaan Laravel 12 dan Laravel 13 Menurut Pendapat Pribad</a:t>
            </a:r>
            <a:r>
              <a:rPr lang="en-US" sz="2736">
                <a:solidFill>
                  <a:srgbClr val="000000"/>
                </a:solidFill>
                <a:latin typeface="Koho"/>
                <a:ea typeface="Koho"/>
                <a:cs typeface="Koho"/>
                <a:sym typeface="Koho"/>
              </a:rPr>
              <a:t>i: Laravel 12 terasa seperti framework web konvensional yang andal untuk urusan CRUD dan sistem monolitik standar.</a:t>
            </a:r>
          </a:p>
          <a:p>
            <a:pPr algn="l">
              <a:lnSpc>
                <a:spcPts val="3831"/>
              </a:lnSpc>
            </a:pPr>
            <a:r>
              <a:rPr lang="en-US" sz="2736">
                <a:solidFill>
                  <a:srgbClr val="000000"/>
                </a:solidFill>
                <a:latin typeface="Koho"/>
                <a:ea typeface="Koho"/>
                <a:cs typeface="Koho"/>
                <a:sym typeface="Koho"/>
              </a:rPr>
              <a:t>Kendala Selama Pengerjaan Project:</a:t>
            </a:r>
          </a:p>
          <a:p>
            <a:pPr algn="l">
              <a:lnSpc>
                <a:spcPts val="3831"/>
              </a:lnSpc>
            </a:pPr>
            <a:r>
              <a:rPr lang="en-US" sz="2736" b="true">
                <a:solidFill>
                  <a:srgbClr val="000000"/>
                </a:solidFill>
                <a:latin typeface="Koho Bold"/>
                <a:ea typeface="Koho Bold"/>
                <a:cs typeface="Koho Bold"/>
                <a:sym typeface="Koho Bold"/>
              </a:rPr>
              <a:t>Penyesuaian Versi PHP</a:t>
            </a:r>
            <a:r>
              <a:rPr lang="en-US" sz="2736">
                <a:solidFill>
                  <a:srgbClr val="000000"/>
                </a:solidFill>
                <a:latin typeface="Koho"/>
                <a:ea typeface="Koho"/>
                <a:cs typeface="Koho"/>
                <a:sym typeface="Koho"/>
              </a:rPr>
              <a:t>: Sempat muncul kendala di awal karena harus melakukan update versi PHP di local server (XAMPP/Laragon) ke versi 8.3 agar aplikasi Laravel 13 bisa berjalan tanpa error.</a:t>
            </a:r>
          </a:p>
          <a:p>
            <a:pPr algn="l">
              <a:lnSpc>
                <a:spcPts val="3831"/>
              </a:lnSpc>
            </a:pPr>
            <a:r>
              <a:rPr lang="en-US" sz="2736" b="true">
                <a:solidFill>
                  <a:srgbClr val="000000"/>
                </a:solidFill>
                <a:latin typeface="Koho Bold"/>
                <a:ea typeface="Koho Bold"/>
                <a:cs typeface="Koho Bold"/>
                <a:sym typeface="Koho Bold"/>
              </a:rPr>
              <a:t>Insight atau Hal Baru yang Dipelajari</a:t>
            </a:r>
            <a:r>
              <a:rPr lang="en-US" sz="2736">
                <a:solidFill>
                  <a:srgbClr val="000000"/>
                </a:solidFill>
                <a:latin typeface="Koho"/>
                <a:ea typeface="Koho"/>
                <a:cs typeface="Koho"/>
                <a:sym typeface="Koho"/>
              </a:rPr>
              <a:t>:</a:t>
            </a:r>
          </a:p>
          <a:p>
            <a:pPr algn="l">
              <a:lnSpc>
                <a:spcPts val="3831"/>
              </a:lnSpc>
            </a:pPr>
            <a:r>
              <a:rPr lang="en-US" sz="2736">
                <a:solidFill>
                  <a:srgbClr val="000000"/>
                </a:solidFill>
                <a:latin typeface="Koho"/>
                <a:ea typeface="Koho"/>
                <a:cs typeface="Koho"/>
                <a:sym typeface="Koho"/>
              </a:rPr>
              <a:t>Pentingnya Standarisasi Kode: Menyadari bahwa menulis kode yang baik bukan cuma sekadar "yang penting aplikasi jalan", tapi bagaimana memanfaatkan fitur bawaan framework agar kode kita mudah dibaca, aman, dan standar industri.</a:t>
            </a:r>
          </a:p>
          <a:p>
            <a:pPr algn="l">
              <a:lnSpc>
                <a:spcPts val="3831"/>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600491" y="7137907"/>
            <a:ext cx="8385425" cy="7519424"/>
          </a:xfrm>
          <a:custGeom>
            <a:avLst/>
            <a:gdLst/>
            <a:ahLst/>
            <a:cxnLst/>
            <a:rect r="r" b="b" t="t" l="l"/>
            <a:pathLst>
              <a:path h="7519424" w="8385425">
                <a:moveTo>
                  <a:pt x="0" y="0"/>
                </a:moveTo>
                <a:lnTo>
                  <a:pt x="8385425" y="0"/>
                </a:lnTo>
                <a:lnTo>
                  <a:pt x="8385425"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5287" y="-4797584"/>
            <a:ext cx="8385425" cy="7519424"/>
          </a:xfrm>
          <a:custGeom>
            <a:avLst/>
            <a:gdLst/>
            <a:ahLst/>
            <a:cxnLst/>
            <a:rect r="r" b="b" t="t" l="l"/>
            <a:pathLst>
              <a:path h="7519424" w="8385425">
                <a:moveTo>
                  <a:pt x="0" y="0"/>
                </a:moveTo>
                <a:lnTo>
                  <a:pt x="8385426" y="0"/>
                </a:lnTo>
                <a:lnTo>
                  <a:pt x="8385426" y="7519424"/>
                </a:lnTo>
                <a:lnTo>
                  <a:pt x="0" y="75194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1739449">
            <a:off x="12609182" y="6907545"/>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739449">
            <a:off x="-2725325" y="-3362204"/>
            <a:ext cx="8105660" cy="6172200"/>
          </a:xfrm>
          <a:custGeom>
            <a:avLst/>
            <a:gdLst/>
            <a:ahLst/>
            <a:cxnLst/>
            <a:rect r="r" b="b" t="t" l="l"/>
            <a:pathLst>
              <a:path h="6172200" w="8105660">
                <a:moveTo>
                  <a:pt x="8105660" y="0"/>
                </a:moveTo>
                <a:lnTo>
                  <a:pt x="0" y="0"/>
                </a:lnTo>
                <a:lnTo>
                  <a:pt x="0" y="6172200"/>
                </a:lnTo>
                <a:lnTo>
                  <a:pt x="8105660" y="6172200"/>
                </a:lnTo>
                <a:lnTo>
                  <a:pt x="810566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634754" y="8840219"/>
            <a:ext cx="6131540" cy="4114800"/>
          </a:xfrm>
          <a:custGeom>
            <a:avLst/>
            <a:gdLst/>
            <a:ahLst/>
            <a:cxnLst/>
            <a:rect r="r" b="b" t="t" l="l"/>
            <a:pathLst>
              <a:path h="4114800" w="6131540">
                <a:moveTo>
                  <a:pt x="0" y="0"/>
                </a:moveTo>
                <a:lnTo>
                  <a:pt x="6131540" y="0"/>
                </a:lnTo>
                <a:lnTo>
                  <a:pt x="61315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963748" y="-1879730"/>
            <a:ext cx="6131540" cy="4114800"/>
          </a:xfrm>
          <a:custGeom>
            <a:avLst/>
            <a:gdLst/>
            <a:ahLst/>
            <a:cxnLst/>
            <a:rect r="r" b="b" t="t" l="l"/>
            <a:pathLst>
              <a:path h="4114800" w="6131540">
                <a:moveTo>
                  <a:pt x="0" y="0"/>
                </a:moveTo>
                <a:lnTo>
                  <a:pt x="6131539" y="0"/>
                </a:lnTo>
                <a:lnTo>
                  <a:pt x="6131539"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324018" y="5878845"/>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0" id="10"/>
          <p:cNvSpPr/>
          <p:nvPr/>
        </p:nvSpPr>
        <p:spPr>
          <a:xfrm flipH="false" flipV="false" rot="0">
            <a:off x="12747809" y="-4390904"/>
            <a:ext cx="7828407" cy="8229600"/>
          </a:xfrm>
          <a:custGeom>
            <a:avLst/>
            <a:gdLst/>
            <a:ahLst/>
            <a:cxnLst/>
            <a:rect r="r" b="b" t="t" l="l"/>
            <a:pathLst>
              <a:path h="8229600" w="7828407">
                <a:moveTo>
                  <a:pt x="0" y="0"/>
                </a:moveTo>
                <a:lnTo>
                  <a:pt x="7828407" y="0"/>
                </a:lnTo>
                <a:lnTo>
                  <a:pt x="7828407" y="8229600"/>
                </a:lnTo>
                <a:lnTo>
                  <a:pt x="0" y="8229600"/>
                </a:lnTo>
                <a:lnTo>
                  <a:pt x="0" y="0"/>
                </a:lnTo>
                <a:close/>
              </a:path>
            </a:pathLst>
          </a:custGeom>
          <a:blipFill>
            <a:blip r:embed="rId9"/>
            <a:stretch>
              <a:fillRect l="0" t="0" r="0" b="0"/>
            </a:stretch>
          </a:blipFill>
        </p:spPr>
      </p:sp>
      <p:sp>
        <p:nvSpPr>
          <p:cNvPr name="Freeform 11" id="11"/>
          <p:cNvSpPr/>
          <p:nvPr/>
        </p:nvSpPr>
        <p:spPr>
          <a:xfrm flipH="false" flipV="false" rot="0">
            <a:off x="4504389" y="-2940411"/>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313595" y="8229600"/>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2634754" y="3954369"/>
            <a:ext cx="13018493" cy="2140138"/>
          </a:xfrm>
          <a:prstGeom prst="rect">
            <a:avLst/>
          </a:prstGeom>
        </p:spPr>
        <p:txBody>
          <a:bodyPr anchor="t" rtlCol="false" tIns="0" lIns="0" bIns="0" rIns="0">
            <a:spAutoFit/>
          </a:bodyPr>
          <a:lstStyle/>
          <a:p>
            <a:pPr algn="ctr">
              <a:lnSpc>
                <a:spcPts val="17489"/>
              </a:lnSpc>
            </a:pPr>
            <a:r>
              <a:rPr lang="en-US" b="true" sz="12492">
                <a:solidFill>
                  <a:srgbClr val="000000"/>
                </a:solidFill>
                <a:latin typeface="Aileron Bold"/>
                <a:ea typeface="Aileron Bold"/>
                <a:cs typeface="Aileron Bold"/>
                <a:sym typeface="Ailero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DAHKoC8KD0U</dc:identifier>
  <dcterms:modified xsi:type="dcterms:W3CDTF">2011-08-01T06:04:30Z</dcterms:modified>
  <cp:revision>1</cp:revision>
  <dc:title>Presentation</dc:title>
</cp:coreProperties>
</file>